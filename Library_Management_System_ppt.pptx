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3657600" cy="36576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92608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27632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24505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Presentation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743200" y="2926080"/>
            <a:ext cx="36576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 ·  Spring Boot 2.7  ·  MySQL 8  ·  REST API  ·  JWT Security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Nitish</a:t>
            </a:r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Academic Year: 2025–2026   |   Final Year Project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48097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 Name]  ·  [College / University Name]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96112"/>
            <a:ext cx="2651760" cy="5669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96112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607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0058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896112"/>
            <a:ext cx="2651760" cy="56692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896112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0607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39896" y="10058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17336" y="896112"/>
            <a:ext cx="2651760" cy="5669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896112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10607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92824" y="10058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554480"/>
            <a:ext cx="2651760" cy="56692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554480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7190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166420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64408" y="1554480"/>
            <a:ext cx="2651760" cy="5669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4408" y="1554480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17190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39896" y="166420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(16 Tables)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17336" y="1554480"/>
            <a:ext cx="2651760" cy="56692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17336" y="1554480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7336" y="17190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92824" y="166420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 (JWT / RBAC)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2212848"/>
            <a:ext cx="2651760" cy="5669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2212848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3774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232257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Walkthrough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64408" y="2212848"/>
            <a:ext cx="2651760" cy="56692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64408" y="2212848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23774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39896" y="232257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Calculation System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17336" y="2212848"/>
            <a:ext cx="2651760" cy="5669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17336" y="2212848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17336" y="23774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92824" y="232257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&amp; Notification Engine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" y="2871216"/>
            <a:ext cx="2651760" cy="56692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2871216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0358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6968" y="298094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&amp; Swagger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64408" y="2871216"/>
            <a:ext cx="2651760" cy="5669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64408" y="2871216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64408" y="30358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739896" y="298094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Login Screen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17336" y="2871216"/>
            <a:ext cx="2651760" cy="56692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17336" y="2871216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17336" y="30358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92824" y="298094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 Code Snippets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1480" y="3529584"/>
            <a:ext cx="2651760" cy="5669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" y="3529584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6941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86968" y="36393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Features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64408" y="3529584"/>
            <a:ext cx="2651760" cy="56692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64408" y="3529584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64408" y="36941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739896" y="36393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Process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117336" y="3529584"/>
            <a:ext cx="2651760" cy="5669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17336" y="3529584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17336" y="36941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592824" y="36393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the Project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11480" y="4187952"/>
            <a:ext cx="2651760" cy="56692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1480" y="4187952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35254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86968" y="42976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264408" y="4187952"/>
            <a:ext cx="2651760" cy="5669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64408" y="4187952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64408" y="435254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739896" y="42976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117336" y="4187952"/>
            <a:ext cx="2651760" cy="56692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17336" y="4187952"/>
            <a:ext cx="41148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17336" y="435254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592824" y="42976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Thank You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68680"/>
            <a:ext cx="3931920" cy="365760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2412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005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536192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house thousands of books and serve hundreds of users simultaneously.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management leads to errors, wasted time, and poor member experience.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LMS is a production-grade RESTful web application built on Spring Boot 2.7 + MySQL 8.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automates cataloguing, loans, fines, reservations, and sends automated notifications.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868680"/>
            <a:ext cx="4160520" cy="3657600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2412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005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736592" y="16459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83480" y="1572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records: 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Data-entry errors and lost registers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36592" y="21488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83480" y="2075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availability: 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make wasted trips to library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36592" y="26517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2578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fines: 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 causes revenue loss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36592" y="31546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83480" y="3081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reservation system: 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visits frustrate members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736592" y="365760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83480" y="3584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 tools: 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compile annual reports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36592" y="41605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83480" y="4087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notifications: </a:t>
            </a:r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overdue rates from missed deadlines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 of the Project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96112"/>
            <a:ext cx="4160520" cy="65836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96112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95097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Automate Book Cataloguing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1225296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books, authors, publishers, copies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96112"/>
            <a:ext cx="4160520" cy="65836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896112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95097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Member Lifecycle Mgmt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9472" y="1225296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update, suspend, and delete members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664208"/>
            <a:ext cx="4160520" cy="65836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664208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1719072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Streamline Loan Operations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" y="1993392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Issue, return, renew with policy enforcement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664208"/>
            <a:ext cx="4160520" cy="65836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664208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719072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Automated Fine Calculation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1993392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Tier-based rates, grace periods, caps on overdue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432304"/>
            <a:ext cx="4160520" cy="65836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432304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2487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Reservation Queue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" y="2761488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+ auto-notify when book becomes available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432304"/>
            <a:ext cx="4160520" cy="65836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432304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487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Role-Based Security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2761488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RBAC: Admin, Librarian, Member roles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3200400"/>
            <a:ext cx="4160520" cy="65836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20040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2552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Scheduled Notifications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" y="3529584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reminders and overdue alerts via @Scheduled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200400"/>
            <a:ext cx="4160520" cy="65836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200400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25526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Reporting &amp; Analytics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9472" y="3529584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Overdue, fines, popular books, member activity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3968496"/>
            <a:ext cx="4160520" cy="65836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3968496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" y="402336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Full API Documentation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" y="429768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3 for all REST endpoints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968496"/>
            <a:ext cx="4160520" cy="65836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968496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402336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Maintainability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19472" y="429768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 for version-controlled schema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Three-Tier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41248"/>
            <a:ext cx="5943600" cy="603504"/>
          </a:xfrm>
          <a:prstGeom prst="rect">
            <a:avLst/>
          </a:prstGeom>
          <a:solidFill>
            <a:srgbClr val="0EA5E9">
              <a:alpha val="90000"/>
            </a:srgbClr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961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15214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·  Postman  ·  Mobile App  ·  Swagger UI (:8085)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74136" y="1444752"/>
            <a:ext cx="182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472184"/>
            <a:ext cx="5943600" cy="603504"/>
          </a:xfrm>
          <a:prstGeom prst="rect">
            <a:avLst/>
          </a:prstGeom>
          <a:solidFill>
            <a:srgbClr val="8B5CF6">
              <a:alpha val="90000"/>
            </a:srgbClr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270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7830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 ·  CustomUserDetailsService  ·  BCrypt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74136" y="2075688"/>
            <a:ext cx="182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03120"/>
            <a:ext cx="5943600" cy="603504"/>
          </a:xfrm>
          <a:prstGeom prst="rect">
            <a:avLst/>
          </a:prstGeom>
          <a:solidFill>
            <a:srgbClr val="1E5799">
              <a:alpha val="90000"/>
            </a:srgbClr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5798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41401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  ·  BookController  ·  LoanController  ·  9 Controllers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74136" y="2706624"/>
            <a:ext cx="182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734056"/>
            <a:ext cx="5943600" cy="603504"/>
          </a:xfrm>
          <a:prstGeom prst="rect">
            <a:avLst/>
          </a:prstGeom>
          <a:solidFill>
            <a:srgbClr val="6B3FA0">
              <a:alpha val="90000"/>
            </a:srgbClr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7889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04495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BookServiceImpl  ·  LoanServiceImpl  ·  FineServiceImpl  ·  8 Services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74136" y="3337560"/>
            <a:ext cx="182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364992"/>
            <a:ext cx="5943600" cy="603504"/>
          </a:xfrm>
          <a:prstGeom prst="rect">
            <a:avLst/>
          </a:prstGeom>
          <a:solidFill>
            <a:srgbClr val="1A4A7A">
              <a:alpha val="90000"/>
            </a:srgbClr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1985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67588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Spring Data JPA Repositories  ·  JPQL  ·  HikariCP Pool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74136" y="3968496"/>
            <a:ext cx="18288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995928"/>
            <a:ext cx="5943600" cy="603504"/>
          </a:xfrm>
          <a:prstGeom prst="rect">
            <a:avLst/>
          </a:prstGeom>
          <a:solidFill>
            <a:srgbClr val="0A3560">
              <a:alpha val="90000"/>
            </a:srgbClr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507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306824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·  library_db  ·  16 Tables  ·  Indexes  ·  FK Constraints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841248"/>
            <a:ext cx="2194560" cy="4251960"/>
          </a:xfrm>
          <a:prstGeom prst="rect">
            <a:avLst/>
          </a:prstGeom>
          <a:solidFill>
            <a:srgbClr val="142338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1298448"/>
            <a:ext cx="1920240" cy="548640"/>
          </a:xfrm>
          <a:prstGeom prst="rect">
            <a:avLst/>
          </a:prstGeom>
          <a:solidFill>
            <a:srgbClr val="1A3A5C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129844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(In-Memory)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1975104"/>
            <a:ext cx="1920240" cy="548640"/>
          </a:xfrm>
          <a:prstGeom prst="rect">
            <a:avLst/>
          </a:prstGeom>
          <a:solidFill>
            <a:srgbClr val="1A3A5C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9751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(Daily Jobs)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20840" y="2651760"/>
            <a:ext cx="1920240" cy="548640"/>
          </a:xfrm>
          <a:prstGeom prst="rect">
            <a:avLst/>
          </a:prstGeom>
          <a:solidFill>
            <a:srgbClr val="1A3A5C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20840" y="3328416"/>
            <a:ext cx="1920240" cy="548640"/>
          </a:xfrm>
          <a:prstGeom prst="rect">
            <a:avLst/>
          </a:prstGeom>
          <a:solidFill>
            <a:srgbClr val="1A3A5C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332841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+ V2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20840" y="4005072"/>
            <a:ext cx="1920240" cy="548640"/>
          </a:xfrm>
          <a:prstGeom prst="rect">
            <a:avLst/>
          </a:prstGeom>
          <a:solidFill>
            <a:srgbClr val="1A3A5C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005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41248"/>
            <a:ext cx="3017520" cy="347472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5097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9509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1362456"/>
            <a:ext cx="274320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463040"/>
            <a:ext cx="27614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(JDK 1.8)  — Core language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2.7.18  — Framework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5.7  — Auth &amp; RBAC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 5.6  — ORM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Cache (@Cacheable)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Scheduling (@Scheduled)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0.9.1  — JWT tokens (HS256)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+ MapStruct  — Boilerplate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OpenAPI 1.7  — Swagger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2.0  — @Valid DTOs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66160" y="841248"/>
            <a:ext cx="2651760" cy="347472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95097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33088" y="9509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703320" y="1362456"/>
            <a:ext cx="2377440" cy="18288"/>
          </a:xfrm>
          <a:prstGeom prst="rect">
            <a:avLst/>
          </a:prstGeom>
          <a:solidFill>
            <a:srgbClr val="38BDF8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03320" y="1463040"/>
            <a:ext cx="239572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— Primary RDBMS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 4.x  — Connection pool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(Spring managed)  — Migrations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normalized tables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indexes for performance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constraints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355080" y="841248"/>
            <a:ext cx="2377440" cy="169164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95097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22008" y="9509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DevOps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92240" y="1362456"/>
            <a:ext cx="2103120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92240" y="146304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 3.9.6  — Build tool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Maven Plugin  — JAR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  — IDE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— Version control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355080" y="2651760"/>
            <a:ext cx="2377440" cy="166420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76148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22008" y="27614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492240" y="3172968"/>
            <a:ext cx="2103120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92240" y="3273552"/>
            <a:ext cx="212140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— API testing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 — DB design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 — Interactive API docs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at /swagger-ui.html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—  16 Tables in library_db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68680"/>
            <a:ext cx="4160520" cy="1810512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68680"/>
            <a:ext cx="4160520" cy="402336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6868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3533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2893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 — ROLE_ADMIN, ROLE_LIBRARIAN, ROLE_MEMBER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73736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733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 — 16 permissions (BOOK_CREATE, FINE_WAIVE…)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1214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0574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role_permissions  — Join table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868680"/>
            <a:ext cx="4160520" cy="219456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868680"/>
            <a:ext cx="4160520" cy="402336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86868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Catalogue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35331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12893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 — isbn, title, status (ACTIVE/ARCHIVED)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73736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6733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book_copies  — barcode, condition, status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12140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0574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authors, publishers, categories (hierarchical)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50545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4414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shelves  — floor, section, capacity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651760"/>
            <a:ext cx="4160520" cy="1426464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651760"/>
            <a:ext cx="4160520" cy="402336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65176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136392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0723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 — STANDARD / PREMIUM / STUDENT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3520440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456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 — Admin and Librarian accounts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2651760"/>
            <a:ext cx="4160520" cy="2962656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2651760"/>
            <a:ext cx="4160520" cy="402336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65176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09160" y="313639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0723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 — Active, Returned, Overdue, Lost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5204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3456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 — Pending, Partial, Paid, Waived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9044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840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 — queue_position, expiry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428853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3752" y="42245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fine_policies  — per membership tier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46725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46085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 — rating 1–5 per member per book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505663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49926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 — In-App, Email, SMS types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" y="4407408"/>
            <a:ext cx="8321040" cy="621792"/>
          </a:xfrm>
          <a:prstGeom prst="rect">
            <a:avLst/>
          </a:prstGeom>
          <a:solidFill>
            <a:srgbClr val="1A3A5C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45312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Policies (Seeded):  STANDARD Rs 5/day · max Rs 500 · 1-day grace  |  PREMIUM Rs 2/day · max Rs 200 · 3-day grace  |  STUDENT Rs 1/day · max Rs 100 · 2-day grace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  —  JWT + RBAC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335024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35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353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/api/v1/auth/login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792224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922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8105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email + BCrypt(12) password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249424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494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2677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Access Token (15 min) + Refresh Token (7 days)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706624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066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7249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sends: Authorization: Bearer &lt;token&gt;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163824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638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1821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validates token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621024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21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36393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CustomUserDetailsService loads Staff or Member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078224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0782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40965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 set → @PreAuthorize checks 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535424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5354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45537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expires → POST /auth/refresh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868680"/>
            <a:ext cx="3977640" cy="192024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987552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376672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Specification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89204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30936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(HMAC-SHA256)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892040" y="17465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Expiry: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309360" y="1746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900,000 ms (15 minutes)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892040" y="2075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Expiry: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309360" y="2075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604,800,000 ms (7 days)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92040" y="2404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309360" y="2404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sub, type, iat, exp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892040" y="27340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309360" y="2734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factor 12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754880" y="2907792"/>
            <a:ext cx="3977640" cy="2258568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3017520"/>
            <a:ext cx="365760" cy="36576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5376672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Role-Permission Matrix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4828032" y="3401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6519672" y="34015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7205472" y="34015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7982712" y="3401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4828032" y="36758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BOOK_CREATE/UPDATE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6519672" y="36758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7205472" y="3675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7982712" y="3675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4828032" y="3950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BOOK_DELETE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6519672" y="39502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7205472" y="39502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7982712" y="3950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4828032" y="42245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MEMBER_MANAGE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6519672" y="42245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7205472" y="42245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7982712" y="4224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4828032" y="4498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LOAN_CREATE</a:t>
            </a:r>
            <a:endParaRPr lang="en-US" sz="900" dirty="0"/>
          </a:p>
        </p:txBody>
      </p:sp>
      <p:sp>
        <p:nvSpPr>
          <p:cNvPr id="65" name="Text 61"/>
          <p:cNvSpPr/>
          <p:nvPr/>
        </p:nvSpPr>
        <p:spPr>
          <a:xfrm>
            <a:off x="6519672" y="44988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7205472" y="44988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7982712" y="4498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4828032" y="47731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FINE_WAIVE</a:t>
            </a:r>
            <a:endParaRPr lang="en-US" sz="900" dirty="0"/>
          </a:p>
        </p:txBody>
      </p:sp>
      <p:sp>
        <p:nvSpPr>
          <p:cNvPr id="69" name="Text 65"/>
          <p:cNvSpPr/>
          <p:nvPr/>
        </p:nvSpPr>
        <p:spPr>
          <a:xfrm>
            <a:off x="6519672" y="4773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7205472" y="4773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7982712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4828032" y="5047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900" dirty="0"/>
          </a:p>
        </p:txBody>
      </p:sp>
      <p:sp>
        <p:nvSpPr>
          <p:cNvPr id="73" name="Text 69"/>
          <p:cNvSpPr/>
          <p:nvPr/>
        </p:nvSpPr>
        <p:spPr>
          <a:xfrm>
            <a:off x="6519672" y="5047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4" name="Text 70"/>
          <p:cNvSpPr/>
          <p:nvPr/>
        </p:nvSpPr>
        <p:spPr>
          <a:xfrm>
            <a:off x="7205472" y="50474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5" name="Text 71"/>
          <p:cNvSpPr/>
          <p:nvPr/>
        </p:nvSpPr>
        <p:spPr>
          <a:xfrm>
            <a:off x="7982712" y="5047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6" name="Text 72"/>
          <p:cNvSpPr/>
          <p:nvPr/>
        </p:nvSpPr>
        <p:spPr>
          <a:xfrm>
            <a:off x="4828032" y="53218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REPORT_READ</a:t>
            </a:r>
            <a:endParaRPr lang="en-US" sz="900" dirty="0"/>
          </a:p>
        </p:txBody>
      </p:sp>
      <p:sp>
        <p:nvSpPr>
          <p:cNvPr id="77" name="Text 73"/>
          <p:cNvSpPr/>
          <p:nvPr/>
        </p:nvSpPr>
        <p:spPr>
          <a:xfrm>
            <a:off x="6519672" y="53218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8" name="Text 74"/>
          <p:cNvSpPr/>
          <p:nvPr/>
        </p:nvSpPr>
        <p:spPr>
          <a:xfrm>
            <a:off x="7205472" y="53218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9" name="Text 75"/>
          <p:cNvSpPr/>
          <p:nvPr/>
        </p:nvSpPr>
        <p:spPr>
          <a:xfrm>
            <a:off x="7982712" y="53218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Description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77824"/>
            <a:ext cx="4160520" cy="10241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77824"/>
            <a:ext cx="54864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95097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9692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Module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353312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/auth/login for all roles. JWT access + refresh tokens. BCrypt password hashing.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877824"/>
            <a:ext cx="4160520" cy="10241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877824"/>
            <a:ext cx="54864" cy="1024128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5097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9692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Catalogue Module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353312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books, authors, publishers, categories. Barcode-based copies. In-memory cache.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1993392"/>
            <a:ext cx="4160520" cy="10241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993392"/>
            <a:ext cx="54864" cy="1024128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6654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20848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468880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auto member_code (MEM-XXXXXX). STANDARD / PREMIUM / STUDENT membership tiers.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993392"/>
            <a:ext cx="4160520" cy="10241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993392"/>
            <a:ext cx="54864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06654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20848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Management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468880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Issue/return/renew with 5 pre-issue validations. @Transactional integrity. Due date per policy.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108960"/>
            <a:ext cx="4160520" cy="10241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108960"/>
            <a:ext cx="54864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821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1560" y="32004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Management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584448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overdue fines on return. Supports PENDING → PARTIAL → PAID → WAIVED states.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108960"/>
            <a:ext cx="4160520" cy="10241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108960"/>
            <a:ext cx="54864" cy="1024128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821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03520" y="32004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Module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3584448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for unavailable books. Auto-promotes next reservation with 3-day expiry window.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224528"/>
            <a:ext cx="4160520" cy="10241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224528"/>
            <a:ext cx="54864" cy="1024128"/>
          </a:xfrm>
          <a:prstGeom prst="rect">
            <a:avLst/>
          </a:prstGeom>
          <a:solidFill>
            <a:srgbClr val="C4B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29768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51560" y="43159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Engine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4700016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jobs at 9 AM and 8 AM daily. DUE_REMINDER, OVERDUE, RESERVATION_READY, FINE_ISSUED.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4224528"/>
            <a:ext cx="4160520" cy="1024128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4224528"/>
            <a:ext cx="54864" cy="1024128"/>
          </a:xfrm>
          <a:prstGeom prst="rect">
            <a:avLst/>
          </a:prstGeom>
          <a:solidFill>
            <a:srgbClr val="6B3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29768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03520" y="43159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Module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00600" y="4700016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loans, fine collection summary, top 10 borrowed books, member activity reports.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Calculation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68680"/>
            <a:ext cx="8321040" cy="804672"/>
          </a:xfrm>
          <a:prstGeom prst="rect">
            <a:avLst/>
          </a:prstGeom>
          <a:solidFill>
            <a:srgbClr val="1A3A5C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326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896112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 =  MIN ( daily_rate  ×  MAX (0,  overdue_days  −  grace_period),  max_fine 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1316736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chargeable_days = 0 (within grace period)  →  No fine generated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83080"/>
          <a:ext cx="832104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280160"/>
                <a:gridCol w="1280160"/>
                <a:gridCol w="1280160"/>
                <a:gridCol w="128016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Fine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Loans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5.00/day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500.00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2.00/day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200.00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1.00/day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11480" y="325526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3639312"/>
            <a:ext cx="2697480" cy="1115568"/>
          </a:xfrm>
          <a:prstGeom prst="rect">
            <a:avLst/>
          </a:prstGeom>
          <a:solidFill>
            <a:srgbClr val="14233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3712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208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Overdue: 5d  Grace: 1d  Chargeable: 4d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21208" y="4361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Rs 5/day  →  Fine: Rs 20  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46120" y="3639312"/>
            <a:ext cx="2697480" cy="1115568"/>
          </a:xfrm>
          <a:prstGeom prst="rect">
            <a:avLst/>
          </a:prstGeom>
          <a:solidFill>
            <a:srgbClr val="142338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55848" y="3712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(in grace)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355848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Overdue: 3d  Grace: 3d  Chargeable: 0d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355848" y="4361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Rs 2/day  →  Fine: Rs 0  (Within grace)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80760" y="3639312"/>
            <a:ext cx="2697480" cy="1115568"/>
          </a:xfrm>
          <a:prstGeom prst="rect">
            <a:avLst/>
          </a:prstGeom>
          <a:solidFill>
            <a:srgbClr val="14233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3712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(capped)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190488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Overdue: 120d  Grace: 2d  Chargeable: 118d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190488" y="4361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Rs 1/day  →  Fine: Rs 100  (Capped at max)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Queue &amp; Notification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68680"/>
            <a:ext cx="4069080" cy="420624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978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Queue Flow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1527048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527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15544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calls POST /api/v1/reservations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" y="196596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1965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14400" y="199339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created: status = PENDING, queue_position assigned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" y="2404872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2404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14400" y="243230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returned by librarian (returnBook())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" y="2843784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2843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14400" y="28712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queries: any PENDING reservation for this book?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" y="3282696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282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14400" y="331012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Promote: status = READY, expiry = NOW() + 3 days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372160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37216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14400" y="37490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book_copy.status set to RESERVED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66928" y="416052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4160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14400" y="418795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RESERVATION_READY notification created for member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66928" y="459943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45994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14400" y="462686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has 3 days to collect, else status = EXPIRED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663440" y="868680"/>
            <a:ext cx="4069080" cy="4206240"/>
          </a:xfrm>
          <a:prstGeom prst="rect">
            <a:avLst/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84048" cy="38404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321808" y="978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Engine (@Scheduled)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4828032" y="1517904"/>
            <a:ext cx="3794760" cy="658368"/>
          </a:xfrm>
          <a:prstGeom prst="rect">
            <a:avLst/>
          </a:prstGeom>
          <a:solidFill>
            <a:srgbClr val="142338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919472" y="15910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LOAN_DUE_REMINDER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4919472" y="186537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before due date (9 AM daily job)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828032" y="2295144"/>
            <a:ext cx="3794760" cy="658368"/>
          </a:xfrm>
          <a:prstGeom prst="rect">
            <a:avLst/>
          </a:prstGeom>
          <a:solidFill>
            <a:srgbClr val="14233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919472" y="23682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LOAN_OVERDUE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4919472" y="26426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after due date (8 AM daily job)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828032" y="3072384"/>
            <a:ext cx="3794760" cy="658368"/>
          </a:xfrm>
          <a:prstGeom prst="rect">
            <a:avLst/>
          </a:prstGeom>
          <a:solidFill>
            <a:srgbClr val="14233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919472" y="31455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RESERVATION_READY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4919472" y="34198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book is returned and queue is promoted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4828032" y="3849624"/>
            <a:ext cx="3794760" cy="658368"/>
          </a:xfrm>
          <a:prstGeom prst="rect">
            <a:avLst/>
          </a:prstGeom>
          <a:solidFill>
            <a:srgbClr val="142338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919472" y="39227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FINE_ISSUED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4919472" y="41970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overdue fine creation at return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4828032" y="47183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IN_APP  ·  EMAIL (SMTP)  ·  SMS (Twilio)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 &amp; Swagger Documentation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68680"/>
            <a:ext cx="4069080" cy="425196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9601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Authentication 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3767328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 — 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/api/v1/auth/login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email, password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 accessToken, refreshToken, role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 — Use token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&lt;accessToken&gt;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3 — Refresh when expired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/api/v1/auth/refresh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refreshToken }  →  { accessToken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Swagger UI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http://localhost:8085/swagger-ui.html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Authorize → paste Bearer token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8686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API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45152" y="1280160"/>
            <a:ext cx="4087368" cy="301752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1280160"/>
            <a:ext cx="530352" cy="301752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280160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30368" y="12801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/api/v1/auth/login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09560" y="1280160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45152" y="1609344"/>
            <a:ext cx="4087368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5152" y="1609344"/>
            <a:ext cx="530352" cy="301752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609344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230368" y="160934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/api/v1/auth/refresh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909560" y="1609344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45152" y="1938528"/>
            <a:ext cx="4087368" cy="301752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1938528"/>
            <a:ext cx="530352" cy="301752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1938528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30368" y="193852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/api/v1/books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09560" y="1938528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45152" y="2267712"/>
            <a:ext cx="4087368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2267712"/>
            <a:ext cx="530352" cy="301752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2267712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30368" y="226771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/api/v1/books/search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909560" y="2267712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45152" y="2596896"/>
            <a:ext cx="4087368" cy="301752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5152" y="2596896"/>
            <a:ext cx="530352" cy="301752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596896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30368" y="259689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/api/v1/books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909560" y="2596896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Admin/Lib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45152" y="2926080"/>
            <a:ext cx="4087368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45152" y="2926080"/>
            <a:ext cx="530352" cy="301752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2926080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230368" y="292608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/api/v1/loans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909560" y="2926080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Admin/Lib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45152" y="3255264"/>
            <a:ext cx="4087368" cy="301752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45152" y="3255264"/>
            <a:ext cx="530352" cy="301752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3255264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230368" y="32552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/api/v1/loans/{id}/return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909560" y="3255264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Admin/Lib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45152" y="3584448"/>
            <a:ext cx="4087368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45152" y="3584448"/>
            <a:ext cx="530352" cy="301752"/>
          </a:xfrm>
          <a:prstGeom prst="rect">
            <a:avLst/>
          </a:prstGeom>
          <a:solidFill>
            <a:srgbClr val="38BDF8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45152" y="3584448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30368" y="358444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/api/v1/loans/{id}/renew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909560" y="3584448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45152" y="3913632"/>
            <a:ext cx="4087368" cy="301752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45152" y="3913632"/>
            <a:ext cx="530352" cy="301752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3913632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230368" y="3913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/api/v1/loans/overdue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909560" y="3913632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Admin/Lib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45152" y="4242816"/>
            <a:ext cx="4087368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45152" y="4242816"/>
            <a:ext cx="530352" cy="301752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45152" y="4242816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230368" y="4242816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/api/v1/fines/{id}/pay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909560" y="4242816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45152" y="4572000"/>
            <a:ext cx="4087368" cy="301752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45152" y="4572000"/>
            <a:ext cx="530352" cy="301752"/>
          </a:xfrm>
          <a:prstGeom prst="rect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45152" y="4572000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230368" y="45720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/api/v1/fines/{id}/waive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909560" y="4572000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Admin/Lib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645152" y="4901184"/>
            <a:ext cx="4087368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45152" y="4901184"/>
            <a:ext cx="530352" cy="301752"/>
          </a:xfrm>
          <a:prstGeom prst="rect">
            <a:avLst/>
          </a:prstGeom>
          <a:solidFill>
            <a:srgbClr val="C4B5FD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45152" y="4901184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230368" y="490118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/api/v1/reservations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909560" y="4901184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645152" y="5230368"/>
            <a:ext cx="4087368" cy="301752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45152" y="5230368"/>
            <a:ext cx="530352" cy="301752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45152" y="5230368"/>
            <a:ext cx="5303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230368" y="523036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/api/v1/reports/popular-books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909560" y="5230368"/>
            <a:ext cx="804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Admin/Lib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Login Screen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49224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868680"/>
            <a:ext cx="6400800" cy="3602736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91440" y="1463040"/>
            <a:ext cx="1188720" cy="548640"/>
          </a:xfrm>
          <a:prstGeom prst="rect">
            <a:avLst/>
          </a:prstGeom>
          <a:solidFill>
            <a:srgbClr val="142338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" y="149961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Branding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91440" y="2560320"/>
            <a:ext cx="1188720" cy="548640"/>
          </a:xfrm>
          <a:prstGeom prst="rect">
            <a:avLst/>
          </a:prstGeom>
          <a:solidFill>
            <a:srgbClr val="142338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259689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Login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91440" y="3657600"/>
            <a:ext cx="1188720" cy="548640"/>
          </a:xfrm>
          <a:prstGeom prst="rect">
            <a:avLst/>
          </a:prstGeom>
          <a:solidFill>
            <a:srgbClr val="14233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369417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882128" y="1463040"/>
            <a:ext cx="1188720" cy="548640"/>
          </a:xfrm>
          <a:prstGeom prst="rect">
            <a:avLst/>
          </a:prstGeom>
          <a:solidFill>
            <a:srgbClr val="142338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27848" y="149961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882128" y="2560320"/>
            <a:ext cx="1188720" cy="548640"/>
          </a:xfrm>
          <a:prstGeom prst="rect">
            <a:avLst/>
          </a:prstGeom>
          <a:solidFill>
            <a:srgbClr val="14233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27848" y="259689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endpoint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882128" y="3657600"/>
            <a:ext cx="1188720" cy="548640"/>
          </a:xfrm>
          <a:prstGeom prst="rect">
            <a:avLst/>
          </a:prstGeom>
          <a:solidFill>
            <a:srgbClr val="142338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27848" y="369417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371600" y="4462272"/>
            <a:ext cx="6400800" cy="384048"/>
          </a:xfrm>
          <a:prstGeom prst="rect">
            <a:avLst/>
          </a:prstGeom>
          <a:solidFill>
            <a:srgbClr val="142338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17320" y="4480560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Admin: admin@library.com  ·  Password: Admin@123  ·  Role: ROLE_ADMIN  |  Swagger UI: http://localhost:8085/swagger-ui.html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 Code Snippets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68680"/>
            <a:ext cx="2816352" cy="425196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68680"/>
            <a:ext cx="2816352" cy="347472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68680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Config — Stateless JWT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280160"/>
            <a:ext cx="2651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 SecurityFilterChain filterChain(HttpSecurity http) {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http.csrf().disable()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.sessionManagement()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.sessionCreationPolicy(STATELESS)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.authorizeHttpRequests(auth -&gt; auth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.antMatchers("/api/v1/auth/**").permitAll()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.anyRequest().authenticated())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.addFilterBefore(jwtFilter, ...);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http.build();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2816352" cy="425196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868680"/>
            <a:ext cx="2816352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868680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Calculation — createOverdueFine()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1280160"/>
            <a:ext cx="2651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days = Math.max(0,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loan.overdueDays() - policy.getGracePeriodDays());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(days &lt;= 0) return; // within grace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BigDecimal amount = policy.getDailyRate()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.multiply(BigDecimal.valueOf(days))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.min(policy.getMaxFine()); // cap at max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 fine = Fine.builder()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.fineType(OVERDUE).amount(amount)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.status(PENDING).build();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fineRepository.save(fine);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868680"/>
            <a:ext cx="2816352" cy="425196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868680"/>
            <a:ext cx="2816352" cy="347472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868680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+ @Cacheable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1280160"/>
            <a:ext cx="2651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@Cacheable("books")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PagedResponse&lt;BookResponse&gt; getAllBooks(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Pageable pageable) { ... }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@CacheEvict(value = "books", allEntries = true)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BookResponse addBook(BookRequest req) { ... }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@PreAuthorize("hasAnyRole('ROLE_LIBRARIAN',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'ROLE_ADMIN')")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LoanResponse issueLoan(LoanRequest req) {...}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Features  (ROLE_ADMIN)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68680"/>
            <a:ext cx="2651760" cy="1481328"/>
          </a:xfrm>
          <a:prstGeom prst="rect">
            <a:avLst/>
          </a:prstGeom>
          <a:solidFill>
            <a:srgbClr val="142338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Book Management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2395728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9903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Add/update/archive with full metadata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physical copies (barcode, shelf)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entire catalogue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64408" y="868680"/>
            <a:ext cx="2651760" cy="1481328"/>
          </a:xfrm>
          <a:prstGeom prst="rect">
            <a:avLst/>
          </a:prstGeom>
          <a:solidFill>
            <a:srgbClr val="142338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9601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Member Management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01568" y="1325880"/>
            <a:ext cx="2395728" cy="18288"/>
          </a:xfrm>
          <a:prstGeom prst="rect">
            <a:avLst/>
          </a:prstGeom>
          <a:solidFill>
            <a:srgbClr val="38BDF8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39903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members (all tiers)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loan history + fines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/ deactivate accounts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17336" y="868680"/>
            <a:ext cx="2651760" cy="1481328"/>
          </a:xfrm>
          <a:prstGeom prst="rect">
            <a:avLst/>
          </a:prstGeom>
          <a:solidFill>
            <a:srgbClr val="142338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9601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Loan Operations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54496" y="1325880"/>
            <a:ext cx="2395728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39903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 book copies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active / overdue loans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loans report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514600"/>
            <a:ext cx="2651760" cy="1481328"/>
          </a:xfrm>
          <a:prstGeom prst="rect">
            <a:avLst/>
          </a:prstGeom>
          <a:solidFill>
            <a:srgbClr val="14233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060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Fine Management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2395728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4495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outstanding fines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 fines (stored in fines.waived_by)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partial &amp; full payments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64408" y="2514600"/>
            <a:ext cx="2651760" cy="1481328"/>
          </a:xfrm>
          <a:prstGeom prst="rect">
            <a:avLst/>
          </a:prstGeom>
          <a:solidFill>
            <a:srgbClr val="142338"/>
          </a:solidFill>
          <a:ln w="6350">
            <a:solidFill>
              <a:srgbClr val="6B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26060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01568" y="2971800"/>
            <a:ext cx="2395728" cy="18288"/>
          </a:xfrm>
          <a:prstGeom prst="rect">
            <a:avLst/>
          </a:prstGeom>
          <a:solidFill>
            <a:srgbClr val="6B3FA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304495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loans with member details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collection summary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borrowed books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17336" y="2514600"/>
            <a:ext cx="2651760" cy="1481328"/>
          </a:xfrm>
          <a:prstGeom prst="rect">
            <a:avLst/>
          </a:prstGeom>
          <a:solidFill>
            <a:srgbClr val="142338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26060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System Config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54496" y="2971800"/>
            <a:ext cx="2395728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304495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policies per membership tier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secret via env variable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migration-managed schema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Implementation Process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68680"/>
            <a:ext cx="1920240" cy="475488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68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042416"/>
            <a:ext cx="274320" cy="128016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97840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868680"/>
            <a:ext cx="1920240" cy="475488"/>
          </a:xfrm>
          <a:prstGeom prst="ellipse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868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Database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42416"/>
            <a:ext cx="274320" cy="128016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97840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868680"/>
            <a:ext cx="1920240" cy="47548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868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042416"/>
            <a:ext cx="274320" cy="128016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97840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868680"/>
            <a:ext cx="1920240" cy="47548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8686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1481328"/>
            <a:ext cx="4069080" cy="160020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481328"/>
            <a:ext cx="54864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Environment Setup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1901952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JDK 8, set JAVA_HOME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MySQL 8, set root password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Maven 3.9.6, add to PATH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IntelliJ IDEA / Eclipse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481328"/>
            <a:ext cx="4069080" cy="160020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481328"/>
            <a:ext cx="54864" cy="1600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Database Setup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1901952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library_db (utf8mb4)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application.yml datasource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JWT_SECRET environment variable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auto-runs V1 + V2 on startup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255264"/>
            <a:ext cx="4069080" cy="160020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255264"/>
            <a:ext cx="54864" cy="160020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346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Build &amp; Run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675888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clean install -DskipTests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-jar target/lms-1.0.0.jar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creates 16 tables + seeds data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admin@library.com / Admin@123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255264"/>
            <a:ext cx="4069080" cy="1600200"/>
          </a:xfrm>
          <a:prstGeom prst="rect">
            <a:avLst/>
          </a:prstGeom>
          <a:solidFill>
            <a:srgbClr val="14233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255264"/>
            <a:ext cx="54864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346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Testing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675888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swagger-ui.html → Authorize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members (alice/bob/carol)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books, return overdue, check fines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reservation queue workflow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91440"/>
            <a:ext cx="54864" cy="54864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Future Enhancements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704088"/>
            <a:ext cx="10972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3977640" cy="402336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80160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3350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Scalability: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— add instances behind load balancer, no shared session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737360"/>
            <a:ext cx="397764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737360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922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Tier-Based Fine Engine: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consistent, transparent fine calculation per membership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194560"/>
            <a:ext cx="3977640" cy="402336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94560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49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Notifications: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jobs eliminate manual reminders, reduce overdue rates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651760"/>
            <a:ext cx="397764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651760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7066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Reservation: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First-come-first-served queue with 3-day collection window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108960"/>
            <a:ext cx="3977640" cy="402336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108960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1638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Caching: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@Cacheable on book listings reduces DB load significantly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566160"/>
            <a:ext cx="397764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566160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6210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schema across dev/test/production environments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023360"/>
            <a:ext cx="3977640" cy="402336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023360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0782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Documentation: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— any frontend can explore and test without source code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4480560"/>
            <a:ext cx="397764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480560"/>
            <a:ext cx="457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535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Security: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factor 12 makes brute-force attacks computationally infeasible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8686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1280160"/>
            <a:ext cx="4069080" cy="402336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280160"/>
            <a:ext cx="45720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3350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Distributed Cache: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in-memory cache for multi-instance support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1737360"/>
            <a:ext cx="40690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737360"/>
            <a:ext cx="45720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17922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Delivery: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Mail + Twilio for real notification delivery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194560"/>
            <a:ext cx="4069080" cy="402336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194560"/>
            <a:ext cx="45720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2249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Razorpay/Paytm integration for online fine payments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2651760"/>
            <a:ext cx="40690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651760"/>
            <a:ext cx="45720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Angular Frontend: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admin dashboard + member portal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3108960"/>
            <a:ext cx="4069080" cy="402336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108960"/>
            <a:ext cx="45720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3163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 App: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members — search, loans, fines, reservations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3566160"/>
            <a:ext cx="40690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566160"/>
            <a:ext cx="45720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36210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Support: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manage multiple library branches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4023360"/>
            <a:ext cx="4069080" cy="402336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4023360"/>
            <a:ext cx="45720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40782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Search: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book/author/description search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4480560"/>
            <a:ext cx="40690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63440" y="4480560"/>
            <a:ext cx="45720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73168" y="4535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Google SSO: </a:t>
            </a:r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login without separate password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4114800" cy="41148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Management System built on Java 8 · Spring Boot 2.7 · MySQL 8 successfully automates every aspect of library operations — from book cataloguing and member management to loan tracking, automated fine calculation, reservation queuing, and administrative reporting.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3977640" cy="402336"/>
          </a:xfrm>
          <a:prstGeom prst="rect">
            <a:avLst/>
          </a:prstGeom>
          <a:solidFill>
            <a:srgbClr val="142338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659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110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security architecture — scales horizontally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847088"/>
            <a:ext cx="3977640" cy="402336"/>
          </a:xfrm>
          <a:prstGeom prst="rect">
            <a:avLst/>
          </a:prstGeom>
          <a:solidFill>
            <a:srgbClr val="142338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9659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19110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Membership-tier fine engine — configurable via DB, no code changes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3977640" cy="402336"/>
          </a:xfrm>
          <a:prstGeom prst="rect">
            <a:avLst/>
          </a:prstGeom>
          <a:solidFill>
            <a:srgbClr val="142338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4414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3865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reservation queue — automated, fair, with expiry enforcement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322576"/>
            <a:ext cx="3977640" cy="402336"/>
          </a:xfrm>
          <a:prstGeom prst="rect">
            <a:avLst/>
          </a:prstGeom>
          <a:solidFill>
            <a:srgbClr val="142338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4608" y="24414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23865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 — identical, reproducible schema across all environments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798064"/>
            <a:ext cx="3977640" cy="402336"/>
          </a:xfrm>
          <a:prstGeom prst="rect">
            <a:avLst/>
          </a:prstGeom>
          <a:solidFill>
            <a:srgbClr val="142338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9169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8620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Swagger-documented REST API — any frontend can integrate without source code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798064"/>
            <a:ext cx="3977640" cy="402336"/>
          </a:xfrm>
          <a:prstGeom prst="rect">
            <a:avLst/>
          </a:prstGeom>
          <a:solidFill>
            <a:srgbClr val="142338"/>
          </a:solidFill>
          <a:ln w="381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29169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8620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@Cacheable optimization — reduces DB load significantly under concurrent usage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0" y="3493008"/>
            <a:ext cx="4572000" cy="987552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52958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2286000" y="400507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Nitish  ·  Final Year Project  ·  2025–2026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423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663440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Spring Boot 2.7 Docs  ·  Spring Security 5.7  ·  JJWT 0.9.1  ·  MySQL 8.0  ·  Flyway  ·  SpringDoc OpenAPI 1.7  ·  HikariCP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subject>Final Year Project Presentation</dc:subject>
  <dc:creator>Nitish</dc:creator>
  <cp:lastModifiedBy>Nitish</cp:lastModifiedBy>
  <cp:revision>1</cp:revision>
  <dcterms:created xsi:type="dcterms:W3CDTF">2026-05-21T07:23:50Z</dcterms:created>
  <dcterms:modified xsi:type="dcterms:W3CDTF">2026-05-21T07:23:50Z</dcterms:modified>
</cp:coreProperties>
</file>